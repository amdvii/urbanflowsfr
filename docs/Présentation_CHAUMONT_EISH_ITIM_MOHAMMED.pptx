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Garet Bold" charset="1" panose="00000000000000000000"/>
      <p:regular r:id="rId23"/>
    </p:embeddedFont>
    <p:embeddedFont>
      <p:font typeface="Garet" charset="1" panose="00000000000000000000"/>
      <p:regular r:id="rId24"/>
    </p:embeddedFont>
    <p:embeddedFont>
      <p:font typeface="Funtastic" charset="1" panose="00000000000000000000"/>
      <p:regular r:id="rId25"/>
    </p:embeddedFont>
    <p:embeddedFont>
      <p:font typeface="Arial Nova" charset="1" panose="020B0504020202020204"/>
      <p:regular r:id="rId26"/>
    </p:embeddedFont>
    <p:embeddedFont>
      <p:font typeface="Open Sans" charset="1" panose="020B0606030504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insee.fr/fr/statistiques/8582988" TargetMode="External" Type="http://schemas.openxmlformats.org/officeDocument/2006/relationships/hyperlink"/><Relationship Id="rId11" Target="https://www.persee.fr/doc/estat_0336-1454_2022_num_536_1_11053" TargetMode="External" Type="http://schemas.openxmlformats.org/officeDocument/2006/relationships/hyperlink"/><Relationship Id="rId2" Target="https://shs.cairn.info/revue-population-et-avenir-2020-5-page-3?tab=texte-integral" TargetMode="External" Type="http://schemas.openxmlformats.org/officeDocument/2006/relationships/hyperlink"/><Relationship Id="rId3" Target="https://www.insee.fr/fr/statistiques/2119595?sommaire=2119686" TargetMode="External" Type="http://schemas.openxmlformats.org/officeDocument/2006/relationships/hyperlink"/><Relationship Id="rId4" Target="https://www.insee.fr/fr/statistiques/4989724?sommaire=4989761" TargetMode="External" Type="http://schemas.openxmlformats.org/officeDocument/2006/relationships/hyperlink"/><Relationship Id="rId5" Target="https://www.insee.fr/fr/statistiques/5393826" TargetMode="External" Type="http://schemas.openxmlformats.org/officeDocument/2006/relationships/hyperlink"/><Relationship Id="rId6" Target="https://www.insee.fr/fr/statistiques/6454108" TargetMode="External" Type="http://schemas.openxmlformats.org/officeDocument/2006/relationships/hyperlink"/><Relationship Id="rId7" Target="https://www.insee.fr/fr/statistiques/7630358" TargetMode="External" Type="http://schemas.openxmlformats.org/officeDocument/2006/relationships/hyperlink"/><Relationship Id="rId8" Target="https://www.insee.fr/fr/statistiques/8201889" TargetMode="External" Type="http://schemas.openxmlformats.org/officeDocument/2006/relationships/hyperlink"/><Relationship Id="rId9" Target="https://www.insee.fr/fr/statistiques/8290591?sommaire=8290669" TargetMode="External" Type="http://schemas.openxmlformats.org/officeDocument/2006/relationships/hyperlink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popsu.archi.fr/programme/exode-urbain" TargetMode="External" Type="http://schemas.openxmlformats.org/officeDocument/2006/relationships/hyperlink"/><Relationship Id="rId3" Target="https://www.nber.org/system/files/working_papers/w28876/w28876.pdf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5CC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35341" y="760898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2821" y="47947"/>
            <a:ext cx="2434826" cy="2434826"/>
          </a:xfrm>
          <a:custGeom>
            <a:avLst/>
            <a:gdLst/>
            <a:ahLst/>
            <a:cxnLst/>
            <a:rect r="r" b="b" t="t" l="l"/>
            <a:pathLst>
              <a:path h="2434826" w="2434826">
                <a:moveTo>
                  <a:pt x="0" y="0"/>
                </a:moveTo>
                <a:lnTo>
                  <a:pt x="2434827" y="0"/>
                </a:lnTo>
                <a:lnTo>
                  <a:pt x="2434827" y="2434827"/>
                </a:lnTo>
                <a:lnTo>
                  <a:pt x="0" y="24348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3365" y="6915461"/>
            <a:ext cx="4474075" cy="4474075"/>
          </a:xfrm>
          <a:custGeom>
            <a:avLst/>
            <a:gdLst/>
            <a:ahLst/>
            <a:cxnLst/>
            <a:rect r="r" b="b" t="t" l="l"/>
            <a:pathLst>
              <a:path h="4474075" w="4474075">
                <a:moveTo>
                  <a:pt x="0" y="0"/>
                </a:moveTo>
                <a:lnTo>
                  <a:pt x="4474076" y="0"/>
                </a:lnTo>
                <a:lnTo>
                  <a:pt x="4474076" y="4474075"/>
                </a:lnTo>
                <a:lnTo>
                  <a:pt x="0" y="44740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598795" y="1720840"/>
            <a:ext cx="13090410" cy="6845321"/>
            <a:chOff x="0" y="0"/>
            <a:chExt cx="4144879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4879" cy="2167467"/>
            </a:xfrm>
            <a:custGeom>
              <a:avLst/>
              <a:gdLst/>
              <a:ahLst/>
              <a:cxnLst/>
              <a:rect r="r" b="b" t="t" l="l"/>
              <a:pathLst>
                <a:path h="2167467" w="4144879">
                  <a:moveTo>
                    <a:pt x="0" y="0"/>
                  </a:moveTo>
                  <a:lnTo>
                    <a:pt x="4144879" y="0"/>
                  </a:lnTo>
                  <a:lnTo>
                    <a:pt x="4144879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4879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655950" y="2513369"/>
            <a:ext cx="2711820" cy="2711820"/>
          </a:xfrm>
          <a:custGeom>
            <a:avLst/>
            <a:gdLst/>
            <a:ahLst/>
            <a:cxnLst/>
            <a:rect r="r" b="b" t="t" l="l"/>
            <a:pathLst>
              <a:path h="2711820" w="2711820">
                <a:moveTo>
                  <a:pt x="0" y="0"/>
                </a:moveTo>
                <a:lnTo>
                  <a:pt x="2711820" y="0"/>
                </a:lnTo>
                <a:lnTo>
                  <a:pt x="2711820" y="2711820"/>
                </a:lnTo>
                <a:lnTo>
                  <a:pt x="0" y="2711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27333" y="2172609"/>
            <a:ext cx="11612681" cy="4941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89"/>
              </a:lnSpc>
              <a:spcBef>
                <a:spcPct val="0"/>
              </a:spcBef>
            </a:pPr>
            <a:r>
              <a:rPr lang="en-US" b="true" sz="7064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Les ménages ont-ils quitté les grandes villes après la pandémie du Covid-19 ?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811165" y="1364031"/>
            <a:ext cx="2237486" cy="2237486"/>
          </a:xfrm>
          <a:custGeom>
            <a:avLst/>
            <a:gdLst/>
            <a:ahLst/>
            <a:cxnLst/>
            <a:rect r="r" b="b" t="t" l="l"/>
            <a:pathLst>
              <a:path h="2237486" w="2237486">
                <a:moveTo>
                  <a:pt x="0" y="0"/>
                </a:moveTo>
                <a:lnTo>
                  <a:pt x="2237486" y="0"/>
                </a:lnTo>
                <a:lnTo>
                  <a:pt x="2237486" y="2237486"/>
                </a:lnTo>
                <a:lnTo>
                  <a:pt x="0" y="22374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232130" y="4714077"/>
            <a:ext cx="1897519" cy="1897519"/>
          </a:xfrm>
          <a:custGeom>
            <a:avLst/>
            <a:gdLst/>
            <a:ahLst/>
            <a:cxnLst/>
            <a:rect r="r" b="b" t="t" l="l"/>
            <a:pathLst>
              <a:path h="1897519" w="1897519">
                <a:moveTo>
                  <a:pt x="0" y="0"/>
                </a:moveTo>
                <a:lnTo>
                  <a:pt x="1897519" y="0"/>
                </a:lnTo>
                <a:lnTo>
                  <a:pt x="1897519" y="1897519"/>
                </a:lnTo>
                <a:lnTo>
                  <a:pt x="0" y="18975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991526" y="-3070218"/>
            <a:ext cx="4474075" cy="4474075"/>
          </a:xfrm>
          <a:custGeom>
            <a:avLst/>
            <a:gdLst/>
            <a:ahLst/>
            <a:cxnLst/>
            <a:rect r="r" b="b" t="t" l="l"/>
            <a:pathLst>
              <a:path h="4474075" w="4474075">
                <a:moveTo>
                  <a:pt x="0" y="0"/>
                </a:moveTo>
                <a:lnTo>
                  <a:pt x="4474076" y="0"/>
                </a:lnTo>
                <a:lnTo>
                  <a:pt x="4474076" y="4474075"/>
                </a:lnTo>
                <a:lnTo>
                  <a:pt x="0" y="44740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860715" y="9152498"/>
            <a:ext cx="1902793" cy="1902793"/>
          </a:xfrm>
          <a:custGeom>
            <a:avLst/>
            <a:gdLst/>
            <a:ahLst/>
            <a:cxnLst/>
            <a:rect r="r" b="b" t="t" l="l"/>
            <a:pathLst>
              <a:path h="1902793" w="1902793">
                <a:moveTo>
                  <a:pt x="0" y="0"/>
                </a:moveTo>
                <a:lnTo>
                  <a:pt x="1902793" y="0"/>
                </a:lnTo>
                <a:lnTo>
                  <a:pt x="1902793" y="1902794"/>
                </a:lnTo>
                <a:lnTo>
                  <a:pt x="0" y="19027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871309" y="7407858"/>
            <a:ext cx="10524729" cy="364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9"/>
              </a:lnSpc>
              <a:spcBef>
                <a:spcPct val="0"/>
              </a:spcBef>
            </a:pPr>
            <a:r>
              <a:rPr lang="en-US" sz="216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CHAUMONT Grégoire, EISH Ahmed, ITIM Tarek, MOHAMMED Naim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1622624" y="8067278"/>
            <a:ext cx="10524729" cy="364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9"/>
              </a:lnSpc>
              <a:spcBef>
                <a:spcPct val="0"/>
              </a:spcBef>
            </a:pPr>
            <a:r>
              <a:rPr lang="en-US" sz="216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16 Avril 2026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445143" y="0"/>
            <a:ext cx="2842857" cy="1497238"/>
          </a:xfrm>
          <a:custGeom>
            <a:avLst/>
            <a:gdLst/>
            <a:ahLst/>
            <a:cxnLst/>
            <a:rect r="r" b="b" t="t" l="l"/>
            <a:pathLst>
              <a:path h="1497238" w="2842857">
                <a:moveTo>
                  <a:pt x="0" y="0"/>
                </a:moveTo>
                <a:lnTo>
                  <a:pt x="2842857" y="0"/>
                </a:lnTo>
                <a:lnTo>
                  <a:pt x="2842857" y="1497238"/>
                </a:lnTo>
                <a:lnTo>
                  <a:pt x="0" y="14972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87060" y="-379596"/>
            <a:ext cx="20862121" cy="3753668"/>
            <a:chOff x="0" y="0"/>
            <a:chExt cx="6605673" cy="11885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5673" cy="1188542"/>
            </a:xfrm>
            <a:custGeom>
              <a:avLst/>
              <a:gdLst/>
              <a:ahLst/>
              <a:cxnLst/>
              <a:rect r="r" b="b" t="t" l="l"/>
              <a:pathLst>
                <a:path h="1188542" w="6605673">
                  <a:moveTo>
                    <a:pt x="0" y="0"/>
                  </a:moveTo>
                  <a:lnTo>
                    <a:pt x="6605673" y="0"/>
                  </a:lnTo>
                  <a:lnTo>
                    <a:pt x="6605673" y="1188542"/>
                  </a:lnTo>
                  <a:lnTo>
                    <a:pt x="0" y="1188542"/>
                  </a:lnTo>
                  <a:close/>
                </a:path>
              </a:pathLst>
            </a:custGeom>
            <a:solidFill>
              <a:srgbClr val="35CCBE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605673" cy="1236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45143" y="0"/>
            <a:ext cx="2842857" cy="1497238"/>
          </a:xfrm>
          <a:custGeom>
            <a:avLst/>
            <a:gdLst/>
            <a:ahLst/>
            <a:cxnLst/>
            <a:rect r="r" b="b" t="t" l="l"/>
            <a:pathLst>
              <a:path h="1497238" w="2842857">
                <a:moveTo>
                  <a:pt x="0" y="0"/>
                </a:moveTo>
                <a:lnTo>
                  <a:pt x="2842857" y="0"/>
                </a:lnTo>
                <a:lnTo>
                  <a:pt x="2842857" y="1497238"/>
                </a:lnTo>
                <a:lnTo>
                  <a:pt x="0" y="1497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922278"/>
            <a:ext cx="14099698" cy="636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16285" indent="-558143" lvl="1">
              <a:lnSpc>
                <a:spcPts val="7238"/>
              </a:lnSpc>
              <a:buFont typeface="Arial"/>
              <a:buChar char="•"/>
            </a:pPr>
            <a:r>
              <a:rPr lang="en-US" sz="517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 modèle de Rosen et Roback</a:t>
            </a:r>
          </a:p>
          <a:p>
            <a:pPr algn="l" marL="1116285" indent="-558143" lvl="1">
              <a:lnSpc>
                <a:spcPts val="7238"/>
              </a:lnSpc>
              <a:buFont typeface="Arial"/>
              <a:buChar char="•"/>
            </a:pPr>
            <a:r>
              <a:rPr lang="en-US" sz="517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Définitions</a:t>
            </a:r>
          </a:p>
          <a:p>
            <a:pPr algn="l" marL="1116285" indent="-558143" lvl="1">
              <a:lnSpc>
                <a:spcPts val="7238"/>
              </a:lnSpc>
              <a:buFont typeface="Arial"/>
              <a:buChar char="•"/>
            </a:pPr>
            <a:r>
              <a:rPr lang="en-US" sz="517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Revue de Littérature et Méthodologie</a:t>
            </a:r>
          </a:p>
          <a:p>
            <a:pPr algn="l" marL="1116285" indent="-558143" lvl="1">
              <a:lnSpc>
                <a:spcPts val="7238"/>
              </a:lnSpc>
              <a:buFont typeface="Arial"/>
              <a:buChar char="•"/>
            </a:pPr>
            <a:r>
              <a:rPr lang="en-US" sz="517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Analyse de l’exode urbain</a:t>
            </a:r>
          </a:p>
          <a:p>
            <a:pPr algn="l" marL="1116285" indent="-558143" lvl="1">
              <a:lnSpc>
                <a:spcPts val="7238"/>
              </a:lnSpc>
              <a:buFont typeface="Arial"/>
              <a:buChar char="•"/>
            </a:pPr>
            <a:r>
              <a:rPr lang="en-US" sz="517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Loi de Gibrat</a:t>
            </a:r>
          </a:p>
          <a:p>
            <a:pPr algn="l" marL="1116285" indent="-558143" lvl="1">
              <a:lnSpc>
                <a:spcPts val="7238"/>
              </a:lnSpc>
              <a:buFont typeface="Arial"/>
              <a:buChar char="•"/>
            </a:pPr>
            <a:r>
              <a:rPr lang="en-US" sz="517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Loi de Zipf</a:t>
            </a:r>
          </a:p>
          <a:p>
            <a:pPr algn="l">
              <a:lnSpc>
                <a:spcPts val="723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504543" y="-86117"/>
            <a:ext cx="11278914" cy="2633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3"/>
              </a:lnSpc>
              <a:spcBef>
                <a:spcPct val="0"/>
              </a:spcBef>
            </a:pPr>
            <a:r>
              <a:rPr lang="en-US" sz="13795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SOMMAIRE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62219" y="9516897"/>
            <a:ext cx="533827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87060" y="-379596"/>
            <a:ext cx="20862121" cy="10666596"/>
            <a:chOff x="0" y="0"/>
            <a:chExt cx="6605673" cy="33774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5673" cy="3377416"/>
            </a:xfrm>
            <a:custGeom>
              <a:avLst/>
              <a:gdLst/>
              <a:ahLst/>
              <a:cxnLst/>
              <a:rect r="r" b="b" t="t" l="l"/>
              <a:pathLst>
                <a:path h="3377416" w="6605673">
                  <a:moveTo>
                    <a:pt x="0" y="0"/>
                  </a:moveTo>
                  <a:lnTo>
                    <a:pt x="6605673" y="0"/>
                  </a:lnTo>
                  <a:lnTo>
                    <a:pt x="6605673" y="3377416"/>
                  </a:lnTo>
                  <a:lnTo>
                    <a:pt x="0" y="3377416"/>
                  </a:lnTo>
                  <a:close/>
                </a:path>
              </a:pathLst>
            </a:custGeom>
            <a:solidFill>
              <a:srgbClr val="35CCBE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605673" cy="3425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57353" y="2147581"/>
            <a:ext cx="16773294" cy="507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3"/>
              </a:lnSpc>
            </a:pPr>
            <a:r>
              <a:rPr lang="en-US" sz="13795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LE MODÈLE DE </a:t>
            </a:r>
          </a:p>
          <a:p>
            <a:pPr algn="ctr">
              <a:lnSpc>
                <a:spcPts val="19313"/>
              </a:lnSpc>
              <a:spcBef>
                <a:spcPct val="0"/>
              </a:spcBef>
            </a:pPr>
            <a:r>
              <a:rPr lang="en-US" sz="13795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ROSEN ET ROBACK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445143" y="0"/>
            <a:ext cx="2842857" cy="1497238"/>
          </a:xfrm>
          <a:custGeom>
            <a:avLst/>
            <a:gdLst/>
            <a:ahLst/>
            <a:cxnLst/>
            <a:rect r="r" b="b" t="t" l="l"/>
            <a:pathLst>
              <a:path h="1497238" w="2842857">
                <a:moveTo>
                  <a:pt x="0" y="0"/>
                </a:moveTo>
                <a:lnTo>
                  <a:pt x="2842857" y="0"/>
                </a:lnTo>
                <a:lnTo>
                  <a:pt x="2842857" y="1497238"/>
                </a:lnTo>
                <a:lnTo>
                  <a:pt x="0" y="1497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962219" y="9516897"/>
            <a:ext cx="533827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83275" y="2252957"/>
            <a:ext cx="7170206" cy="6166377"/>
          </a:xfrm>
          <a:custGeom>
            <a:avLst/>
            <a:gdLst/>
            <a:ahLst/>
            <a:cxnLst/>
            <a:rect r="r" b="b" t="t" l="l"/>
            <a:pathLst>
              <a:path h="6166377" w="7170206">
                <a:moveTo>
                  <a:pt x="0" y="0"/>
                </a:moveTo>
                <a:lnTo>
                  <a:pt x="7170205" y="0"/>
                </a:lnTo>
                <a:lnTo>
                  <a:pt x="7170205" y="6166377"/>
                </a:lnTo>
                <a:lnTo>
                  <a:pt x="0" y="61663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82351" y="5490139"/>
            <a:ext cx="5572054" cy="64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4"/>
              </a:lnSpc>
              <a:spcBef>
                <a:spcPct val="0"/>
              </a:spcBef>
            </a:pPr>
            <a:r>
              <a:rPr lang="en-US" b="true" sz="384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Ménages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98536" y="8175740"/>
            <a:ext cx="5572054" cy="490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  <a:spcBef>
                <a:spcPct val="0"/>
              </a:spcBef>
            </a:pPr>
            <a:r>
              <a:rPr lang="en-US" b="true" sz="290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Salaires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82351" y="1572915"/>
            <a:ext cx="5572054" cy="490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  <a:spcBef>
                <a:spcPct val="0"/>
              </a:spcBef>
            </a:pPr>
            <a:r>
              <a:rPr lang="en-US" b="true" sz="290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Qualité de vie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87246" y="8175740"/>
            <a:ext cx="5572054" cy="490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3"/>
              </a:lnSpc>
              <a:spcBef>
                <a:spcPct val="0"/>
              </a:spcBef>
            </a:pPr>
            <a:r>
              <a:rPr lang="en-US" b="true" sz="290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Prix immobilier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62219" y="9516897"/>
            <a:ext cx="533827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4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445143" y="0"/>
            <a:ext cx="2842857" cy="1497238"/>
          </a:xfrm>
          <a:custGeom>
            <a:avLst/>
            <a:gdLst/>
            <a:ahLst/>
            <a:cxnLst/>
            <a:rect r="r" b="b" t="t" l="l"/>
            <a:pathLst>
              <a:path h="1497238" w="2842857">
                <a:moveTo>
                  <a:pt x="0" y="0"/>
                </a:moveTo>
                <a:lnTo>
                  <a:pt x="2842857" y="0"/>
                </a:lnTo>
                <a:lnTo>
                  <a:pt x="2842857" y="1497238"/>
                </a:lnTo>
                <a:lnTo>
                  <a:pt x="0" y="1497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87060" y="-379596"/>
            <a:ext cx="20862121" cy="3753668"/>
            <a:chOff x="0" y="0"/>
            <a:chExt cx="6605673" cy="11885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5673" cy="1188542"/>
            </a:xfrm>
            <a:custGeom>
              <a:avLst/>
              <a:gdLst/>
              <a:ahLst/>
              <a:cxnLst/>
              <a:rect r="r" b="b" t="t" l="l"/>
              <a:pathLst>
                <a:path h="1188542" w="6605673">
                  <a:moveTo>
                    <a:pt x="0" y="0"/>
                  </a:moveTo>
                  <a:lnTo>
                    <a:pt x="6605673" y="0"/>
                  </a:lnTo>
                  <a:lnTo>
                    <a:pt x="6605673" y="1188542"/>
                  </a:lnTo>
                  <a:lnTo>
                    <a:pt x="0" y="1188542"/>
                  </a:lnTo>
                  <a:close/>
                </a:path>
              </a:pathLst>
            </a:custGeom>
            <a:solidFill>
              <a:srgbClr val="35CCBE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605673" cy="1236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2965" y="638175"/>
            <a:ext cx="18142071" cy="1941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74"/>
              </a:lnSpc>
              <a:spcBef>
                <a:spcPct val="0"/>
              </a:spcBef>
            </a:pPr>
            <a:r>
              <a:rPr lang="en-US" sz="10196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DÉFINITIONS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819881"/>
            <a:ext cx="11960096" cy="4644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49917" indent="-674958" lvl="1">
              <a:lnSpc>
                <a:spcPts val="12630"/>
              </a:lnSpc>
              <a:buFont typeface="Arial"/>
              <a:buChar char="•"/>
            </a:pPr>
            <a:r>
              <a:rPr lang="en-US" sz="625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Solde migratoire</a:t>
            </a:r>
          </a:p>
          <a:p>
            <a:pPr algn="l" marL="1349917" indent="-674958" lvl="1">
              <a:lnSpc>
                <a:spcPts val="12630"/>
              </a:lnSpc>
              <a:buFont typeface="Arial"/>
              <a:buChar char="•"/>
            </a:pPr>
            <a:r>
              <a:rPr lang="en-US" sz="625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Loi de Gibrat</a:t>
            </a:r>
          </a:p>
          <a:p>
            <a:pPr algn="l" marL="1349917" indent="-674958" lvl="1">
              <a:lnSpc>
                <a:spcPts val="12630"/>
              </a:lnSpc>
              <a:buFont typeface="Arial"/>
              <a:buChar char="•"/>
            </a:pPr>
            <a:r>
              <a:rPr lang="en-US" sz="625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Loi de Zipf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62219" y="9516897"/>
            <a:ext cx="533827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5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445143" y="0"/>
            <a:ext cx="2842857" cy="1497238"/>
          </a:xfrm>
          <a:custGeom>
            <a:avLst/>
            <a:gdLst/>
            <a:ahLst/>
            <a:cxnLst/>
            <a:rect r="r" b="b" t="t" l="l"/>
            <a:pathLst>
              <a:path h="1497238" w="2842857">
                <a:moveTo>
                  <a:pt x="0" y="0"/>
                </a:moveTo>
                <a:lnTo>
                  <a:pt x="2842857" y="0"/>
                </a:lnTo>
                <a:lnTo>
                  <a:pt x="2842857" y="1497238"/>
                </a:lnTo>
                <a:lnTo>
                  <a:pt x="0" y="1497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5CC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98795" y="1720840"/>
            <a:ext cx="13090410" cy="6845321"/>
            <a:chOff x="0" y="0"/>
            <a:chExt cx="4144879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4879" cy="2167467"/>
            </a:xfrm>
            <a:custGeom>
              <a:avLst/>
              <a:gdLst/>
              <a:ahLst/>
              <a:cxnLst/>
              <a:rect r="r" b="b" t="t" l="l"/>
              <a:pathLst>
                <a:path h="2167467" w="4144879">
                  <a:moveTo>
                    <a:pt x="0" y="0"/>
                  </a:moveTo>
                  <a:lnTo>
                    <a:pt x="4144879" y="0"/>
                  </a:lnTo>
                  <a:lnTo>
                    <a:pt x="4144879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4879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27333" y="2201184"/>
            <a:ext cx="11612681" cy="5957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9"/>
              </a:lnSpc>
            </a:pPr>
            <a:r>
              <a:rPr lang="en-US" sz="5364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Le choc du Covid-19 a-t-il été suffisant pour altérer ces lois fondamentales et transformer durablement la structure</a:t>
            </a:r>
          </a:p>
          <a:p>
            <a:pPr algn="ctr">
              <a:lnSpc>
                <a:spcPts val="7509"/>
              </a:lnSpc>
            </a:pPr>
            <a:r>
              <a:rPr lang="en-US" sz="5364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urbaine française ?</a:t>
            </a:r>
          </a:p>
          <a:p>
            <a:pPr algn="ctr">
              <a:lnSpc>
                <a:spcPts val="9889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445143" y="0"/>
            <a:ext cx="2842857" cy="1497238"/>
          </a:xfrm>
          <a:custGeom>
            <a:avLst/>
            <a:gdLst/>
            <a:ahLst/>
            <a:cxnLst/>
            <a:rect r="r" b="b" t="t" l="l"/>
            <a:pathLst>
              <a:path h="1497238" w="2842857">
                <a:moveTo>
                  <a:pt x="0" y="0"/>
                </a:moveTo>
                <a:lnTo>
                  <a:pt x="2842857" y="0"/>
                </a:lnTo>
                <a:lnTo>
                  <a:pt x="2842857" y="1497238"/>
                </a:lnTo>
                <a:lnTo>
                  <a:pt x="0" y="1497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962219" y="9516897"/>
            <a:ext cx="533827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87060" y="-379596"/>
            <a:ext cx="20862121" cy="10666596"/>
            <a:chOff x="0" y="0"/>
            <a:chExt cx="6605673" cy="33774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5673" cy="3377416"/>
            </a:xfrm>
            <a:custGeom>
              <a:avLst/>
              <a:gdLst/>
              <a:ahLst/>
              <a:cxnLst/>
              <a:rect r="r" b="b" t="t" l="l"/>
              <a:pathLst>
                <a:path h="3377416" w="6605673">
                  <a:moveTo>
                    <a:pt x="0" y="0"/>
                  </a:moveTo>
                  <a:lnTo>
                    <a:pt x="6605673" y="0"/>
                  </a:lnTo>
                  <a:lnTo>
                    <a:pt x="6605673" y="3377416"/>
                  </a:lnTo>
                  <a:lnTo>
                    <a:pt x="0" y="3377416"/>
                  </a:lnTo>
                  <a:close/>
                </a:path>
              </a:pathLst>
            </a:custGeom>
            <a:solidFill>
              <a:srgbClr val="35CCBE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605673" cy="3425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57353" y="920031"/>
            <a:ext cx="16773294" cy="753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3"/>
              </a:lnSpc>
            </a:pPr>
            <a:r>
              <a:rPr lang="en-US" sz="13795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REVUE DE LA LITTÉRATURE </a:t>
            </a:r>
          </a:p>
          <a:p>
            <a:pPr algn="ctr">
              <a:lnSpc>
                <a:spcPts val="19313"/>
              </a:lnSpc>
              <a:spcBef>
                <a:spcPct val="0"/>
              </a:spcBef>
            </a:pPr>
            <a:r>
              <a:rPr lang="en-US" sz="13795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ET MÉTHODOLOGIE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445143" y="0"/>
            <a:ext cx="2842857" cy="1497238"/>
          </a:xfrm>
          <a:custGeom>
            <a:avLst/>
            <a:gdLst/>
            <a:ahLst/>
            <a:cxnLst/>
            <a:rect r="r" b="b" t="t" l="l"/>
            <a:pathLst>
              <a:path h="1497238" w="2842857">
                <a:moveTo>
                  <a:pt x="0" y="0"/>
                </a:moveTo>
                <a:lnTo>
                  <a:pt x="2842857" y="0"/>
                </a:lnTo>
                <a:lnTo>
                  <a:pt x="2842857" y="1497238"/>
                </a:lnTo>
                <a:lnTo>
                  <a:pt x="0" y="1497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962219" y="9516897"/>
            <a:ext cx="533827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25724" y="662169"/>
            <a:ext cx="10066943" cy="2094501"/>
            <a:chOff x="0" y="0"/>
            <a:chExt cx="3187545" cy="663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87545" cy="663192"/>
            </a:xfrm>
            <a:custGeom>
              <a:avLst/>
              <a:gdLst/>
              <a:ahLst/>
              <a:cxnLst/>
              <a:rect r="r" b="b" t="t" l="l"/>
              <a:pathLst>
                <a:path h="663192" w="3187545">
                  <a:moveTo>
                    <a:pt x="0" y="0"/>
                  </a:moveTo>
                  <a:lnTo>
                    <a:pt x="3187545" y="0"/>
                  </a:lnTo>
                  <a:lnTo>
                    <a:pt x="3187545" y="663192"/>
                  </a:lnTo>
                  <a:lnTo>
                    <a:pt x="0" y="66319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187545" cy="710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32496" y="923925"/>
            <a:ext cx="11612681" cy="268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9"/>
              </a:lnSpc>
            </a:pPr>
            <a:r>
              <a:rPr lang="en-US" sz="5364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LE DONUT EFFECT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Par BLOOM et RAMANI</a:t>
            </a:r>
          </a:p>
          <a:p>
            <a:pPr algn="ctr">
              <a:lnSpc>
                <a:spcPts val="9889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217058" y="3385942"/>
            <a:ext cx="11843557" cy="6178580"/>
          </a:xfrm>
          <a:custGeom>
            <a:avLst/>
            <a:gdLst/>
            <a:ahLst/>
            <a:cxnLst/>
            <a:rect r="r" b="b" t="t" l="l"/>
            <a:pathLst>
              <a:path h="6178580" w="11843557">
                <a:moveTo>
                  <a:pt x="0" y="0"/>
                </a:moveTo>
                <a:lnTo>
                  <a:pt x="11843557" y="0"/>
                </a:lnTo>
                <a:lnTo>
                  <a:pt x="11843557" y="6178580"/>
                </a:lnTo>
                <a:lnTo>
                  <a:pt x="0" y="6178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930" r="0" b="-393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962219" y="9516897"/>
            <a:ext cx="533827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8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445143" y="0"/>
            <a:ext cx="2842857" cy="1497238"/>
          </a:xfrm>
          <a:custGeom>
            <a:avLst/>
            <a:gdLst/>
            <a:ahLst/>
            <a:cxnLst/>
            <a:rect r="r" b="b" t="t" l="l"/>
            <a:pathLst>
              <a:path h="1497238" w="2842857">
                <a:moveTo>
                  <a:pt x="0" y="0"/>
                </a:moveTo>
                <a:lnTo>
                  <a:pt x="2842857" y="0"/>
                </a:lnTo>
                <a:lnTo>
                  <a:pt x="2842857" y="1497238"/>
                </a:lnTo>
                <a:lnTo>
                  <a:pt x="0" y="1497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87060" y="-379596"/>
            <a:ext cx="20862121" cy="10666596"/>
            <a:chOff x="0" y="0"/>
            <a:chExt cx="6605673" cy="33774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5673" cy="3377416"/>
            </a:xfrm>
            <a:custGeom>
              <a:avLst/>
              <a:gdLst/>
              <a:ahLst/>
              <a:cxnLst/>
              <a:rect r="r" b="b" t="t" l="l"/>
              <a:pathLst>
                <a:path h="3377416" w="6605673">
                  <a:moveTo>
                    <a:pt x="0" y="0"/>
                  </a:moveTo>
                  <a:lnTo>
                    <a:pt x="6605673" y="0"/>
                  </a:lnTo>
                  <a:lnTo>
                    <a:pt x="6605673" y="3377416"/>
                  </a:lnTo>
                  <a:lnTo>
                    <a:pt x="0" y="3377416"/>
                  </a:lnTo>
                  <a:close/>
                </a:path>
              </a:pathLst>
            </a:custGeom>
            <a:solidFill>
              <a:srgbClr val="35CCBE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605673" cy="3425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57353" y="2334987"/>
            <a:ext cx="16773294" cy="508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3"/>
              </a:lnSpc>
            </a:pPr>
            <a:r>
              <a:rPr lang="en-US" sz="13795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ANALYSE DE </a:t>
            </a:r>
          </a:p>
          <a:p>
            <a:pPr algn="ctr">
              <a:lnSpc>
                <a:spcPts val="19313"/>
              </a:lnSpc>
              <a:spcBef>
                <a:spcPct val="0"/>
              </a:spcBef>
            </a:pPr>
            <a:r>
              <a:rPr lang="en-US" sz="13795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L’EXODE URBAIN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445143" y="0"/>
            <a:ext cx="2842857" cy="1497238"/>
          </a:xfrm>
          <a:custGeom>
            <a:avLst/>
            <a:gdLst/>
            <a:ahLst/>
            <a:cxnLst/>
            <a:rect r="r" b="b" t="t" l="l"/>
            <a:pathLst>
              <a:path h="1497238" w="2842857">
                <a:moveTo>
                  <a:pt x="0" y="0"/>
                </a:moveTo>
                <a:lnTo>
                  <a:pt x="2842857" y="0"/>
                </a:lnTo>
                <a:lnTo>
                  <a:pt x="2842857" y="1497238"/>
                </a:lnTo>
                <a:lnTo>
                  <a:pt x="0" y="1497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962219" y="9516897"/>
            <a:ext cx="533827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3212" y="69039"/>
            <a:ext cx="17401575" cy="10148922"/>
          </a:xfrm>
          <a:custGeom>
            <a:avLst/>
            <a:gdLst/>
            <a:ahLst/>
            <a:cxnLst/>
            <a:rect r="r" b="b" t="t" l="l"/>
            <a:pathLst>
              <a:path h="10148922" w="17401575">
                <a:moveTo>
                  <a:pt x="0" y="0"/>
                </a:moveTo>
                <a:lnTo>
                  <a:pt x="17401576" y="0"/>
                </a:lnTo>
                <a:lnTo>
                  <a:pt x="17401576" y="10148922"/>
                </a:lnTo>
                <a:lnTo>
                  <a:pt x="0" y="10148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38" r="0" b="-143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62219" y="9516897"/>
            <a:ext cx="533827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87060" y="-379596"/>
            <a:ext cx="20862121" cy="10666596"/>
            <a:chOff x="0" y="0"/>
            <a:chExt cx="6605673" cy="33774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5673" cy="3377416"/>
            </a:xfrm>
            <a:custGeom>
              <a:avLst/>
              <a:gdLst/>
              <a:ahLst/>
              <a:cxnLst/>
              <a:rect r="r" b="b" t="t" l="l"/>
              <a:pathLst>
                <a:path h="3377416" w="6605673">
                  <a:moveTo>
                    <a:pt x="0" y="0"/>
                  </a:moveTo>
                  <a:lnTo>
                    <a:pt x="6605673" y="0"/>
                  </a:lnTo>
                  <a:lnTo>
                    <a:pt x="6605673" y="3377416"/>
                  </a:lnTo>
                  <a:lnTo>
                    <a:pt x="0" y="3377416"/>
                  </a:lnTo>
                  <a:close/>
                </a:path>
              </a:pathLst>
            </a:custGeom>
            <a:solidFill>
              <a:srgbClr val="35CCBE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605673" cy="3425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57353" y="3370347"/>
            <a:ext cx="16773294" cy="2633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3"/>
              </a:lnSpc>
              <a:spcBef>
                <a:spcPct val="0"/>
              </a:spcBef>
            </a:pPr>
            <a:r>
              <a:rPr lang="en-US" sz="13795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LOI DE GIBRAT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445143" y="0"/>
            <a:ext cx="2842857" cy="1497238"/>
          </a:xfrm>
          <a:custGeom>
            <a:avLst/>
            <a:gdLst/>
            <a:ahLst/>
            <a:cxnLst/>
            <a:rect r="r" b="b" t="t" l="l"/>
            <a:pathLst>
              <a:path h="1497238" w="2842857">
                <a:moveTo>
                  <a:pt x="0" y="0"/>
                </a:moveTo>
                <a:lnTo>
                  <a:pt x="2842857" y="0"/>
                </a:lnTo>
                <a:lnTo>
                  <a:pt x="2842857" y="1497238"/>
                </a:lnTo>
                <a:lnTo>
                  <a:pt x="0" y="1497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962219" y="9516897"/>
            <a:ext cx="533827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8491" y="50716"/>
            <a:ext cx="17131019" cy="10185569"/>
          </a:xfrm>
          <a:custGeom>
            <a:avLst/>
            <a:gdLst/>
            <a:ahLst/>
            <a:cxnLst/>
            <a:rect r="r" b="b" t="t" l="l"/>
            <a:pathLst>
              <a:path h="10185569" w="17131019">
                <a:moveTo>
                  <a:pt x="0" y="0"/>
                </a:moveTo>
                <a:lnTo>
                  <a:pt x="17131018" y="0"/>
                </a:lnTo>
                <a:lnTo>
                  <a:pt x="17131018" y="10185568"/>
                </a:lnTo>
                <a:lnTo>
                  <a:pt x="0" y="10185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56" r="0" b="-45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62219" y="9516897"/>
            <a:ext cx="533827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87060" y="-379596"/>
            <a:ext cx="20862121" cy="10666596"/>
            <a:chOff x="0" y="0"/>
            <a:chExt cx="6605673" cy="33774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5673" cy="3377416"/>
            </a:xfrm>
            <a:custGeom>
              <a:avLst/>
              <a:gdLst/>
              <a:ahLst/>
              <a:cxnLst/>
              <a:rect r="r" b="b" t="t" l="l"/>
              <a:pathLst>
                <a:path h="3377416" w="6605673">
                  <a:moveTo>
                    <a:pt x="0" y="0"/>
                  </a:moveTo>
                  <a:lnTo>
                    <a:pt x="6605673" y="0"/>
                  </a:lnTo>
                  <a:lnTo>
                    <a:pt x="6605673" y="3377416"/>
                  </a:lnTo>
                  <a:lnTo>
                    <a:pt x="0" y="3377416"/>
                  </a:lnTo>
                  <a:close/>
                </a:path>
              </a:pathLst>
            </a:custGeom>
            <a:solidFill>
              <a:srgbClr val="35CCBE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605673" cy="3425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57353" y="3370347"/>
            <a:ext cx="16773294" cy="2633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3"/>
              </a:lnSpc>
              <a:spcBef>
                <a:spcPct val="0"/>
              </a:spcBef>
            </a:pPr>
            <a:r>
              <a:rPr lang="en-US" sz="13795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LOI DE ZIPF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445143" y="0"/>
            <a:ext cx="2842857" cy="1497238"/>
          </a:xfrm>
          <a:custGeom>
            <a:avLst/>
            <a:gdLst/>
            <a:ahLst/>
            <a:cxnLst/>
            <a:rect r="r" b="b" t="t" l="l"/>
            <a:pathLst>
              <a:path h="1497238" w="2842857">
                <a:moveTo>
                  <a:pt x="0" y="0"/>
                </a:moveTo>
                <a:lnTo>
                  <a:pt x="2842857" y="0"/>
                </a:lnTo>
                <a:lnTo>
                  <a:pt x="2842857" y="1497238"/>
                </a:lnTo>
                <a:lnTo>
                  <a:pt x="0" y="1497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962219" y="9516897"/>
            <a:ext cx="533827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5491" y="44395"/>
            <a:ext cx="16997017" cy="10198210"/>
          </a:xfrm>
          <a:custGeom>
            <a:avLst/>
            <a:gdLst/>
            <a:ahLst/>
            <a:cxnLst/>
            <a:rect r="r" b="b" t="t" l="l"/>
            <a:pathLst>
              <a:path h="10198210" w="16997017">
                <a:moveTo>
                  <a:pt x="0" y="0"/>
                </a:moveTo>
                <a:lnTo>
                  <a:pt x="16997018" y="0"/>
                </a:lnTo>
                <a:lnTo>
                  <a:pt x="16997018" y="10198210"/>
                </a:lnTo>
                <a:lnTo>
                  <a:pt x="0" y="101982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62219" y="9516897"/>
            <a:ext cx="533827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87060" y="-379596"/>
            <a:ext cx="20862121" cy="10666596"/>
            <a:chOff x="0" y="0"/>
            <a:chExt cx="6605673" cy="33774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5673" cy="3377416"/>
            </a:xfrm>
            <a:custGeom>
              <a:avLst/>
              <a:gdLst/>
              <a:ahLst/>
              <a:cxnLst/>
              <a:rect r="r" b="b" t="t" l="l"/>
              <a:pathLst>
                <a:path h="3377416" w="6605673">
                  <a:moveTo>
                    <a:pt x="0" y="0"/>
                  </a:moveTo>
                  <a:lnTo>
                    <a:pt x="6605673" y="0"/>
                  </a:lnTo>
                  <a:lnTo>
                    <a:pt x="6605673" y="3377416"/>
                  </a:lnTo>
                  <a:lnTo>
                    <a:pt x="0" y="3377416"/>
                  </a:lnTo>
                  <a:close/>
                </a:path>
              </a:pathLst>
            </a:custGeom>
            <a:solidFill>
              <a:srgbClr val="35CCBE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605673" cy="3425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57353" y="3370347"/>
            <a:ext cx="16773294" cy="2633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13"/>
              </a:lnSpc>
              <a:spcBef>
                <a:spcPct val="0"/>
              </a:spcBef>
            </a:pPr>
            <a:r>
              <a:rPr lang="en-US" sz="13795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CONCLUSION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445143" y="0"/>
            <a:ext cx="2842857" cy="1497238"/>
          </a:xfrm>
          <a:custGeom>
            <a:avLst/>
            <a:gdLst/>
            <a:ahLst/>
            <a:cxnLst/>
            <a:rect r="r" b="b" t="t" l="l"/>
            <a:pathLst>
              <a:path h="1497238" w="2842857">
                <a:moveTo>
                  <a:pt x="0" y="0"/>
                </a:moveTo>
                <a:lnTo>
                  <a:pt x="2842857" y="0"/>
                </a:lnTo>
                <a:lnTo>
                  <a:pt x="2842857" y="1497238"/>
                </a:lnTo>
                <a:lnTo>
                  <a:pt x="0" y="1497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962219" y="9516897"/>
            <a:ext cx="533827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35180" y="759531"/>
            <a:ext cx="11617641" cy="957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9"/>
              </a:lnSpc>
              <a:spcBef>
                <a:spcPct val="0"/>
              </a:spcBef>
            </a:pPr>
            <a:r>
              <a:rPr lang="en-US" sz="5049">
                <a:solidFill>
                  <a:srgbClr val="000000"/>
                </a:solidFill>
                <a:latin typeface="Funtastic"/>
                <a:ea typeface="Funtastic"/>
                <a:cs typeface="Funtastic"/>
                <a:sym typeface="Funtastic"/>
              </a:rPr>
              <a:t>BIBLIOGRAPHIE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4916" y="2146452"/>
            <a:ext cx="16194384" cy="779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3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Dumont, Gérard-François. 2020. "Covid-19 : la fin de la métropolisation ? L'« exode urbain »." Population &amp; </a:t>
            </a:r>
            <a:r>
              <a:rPr lang="en-US" sz="22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Avenir 750 (5): 3. </a:t>
            </a:r>
            <a:r>
              <a:rPr lang="en-US" sz="2200" u="sng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  <a:hlinkClick r:id="rId2" tooltip="https://shs.cairn.info/revue-population-et-avenir-2020-5-page-3?tab=texte-integral"/>
              </a:rPr>
              <a:t>https://shs.cairn.info/revue-population-et-avenir-2020-5-page-3?tab=texte-integral</a:t>
            </a:r>
            <a:r>
              <a:rPr lang="en-US" sz="22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.</a:t>
            </a:r>
          </a:p>
          <a:p>
            <a:pPr algn="l" marL="474983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INSEE. 2014.  Populations légales 2012. </a:t>
            </a:r>
            <a:r>
              <a:rPr lang="en-US" sz="2200" u="sng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  <a:hlinkClick r:id="rId3" tooltip="https://www.insee.fr/fr/statistiques/2119595?sommaire=2119686"/>
              </a:rPr>
              <a:t>https://www.insee.fr/fr/statistiques/2119595?sommaire=2119686</a:t>
            </a:r>
            <a:r>
              <a:rPr lang="en-US" sz="22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.</a:t>
            </a:r>
          </a:p>
          <a:p>
            <a:pPr algn="l" marL="474983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———. 2020. Population légales 2018. </a:t>
            </a:r>
            <a:r>
              <a:rPr lang="en-US" sz="2200" u="sng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  <a:hlinkClick r:id="rId4" tooltip="https://www.insee.fr/fr/statistiques/4989724?sommaire=4989761"/>
              </a:rPr>
              <a:t>https://www.insee.fr/fr/statistiques/4989724?sommaire=4989761</a:t>
            </a:r>
            <a:r>
              <a:rPr lang="en-US" sz="22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.</a:t>
            </a:r>
          </a:p>
          <a:p>
            <a:pPr algn="l" marL="474983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———. 2021. Migrations résidentielles en 2018 : lieu de résidence actuelle - lieu de résidence antérieure. </a:t>
            </a:r>
            <a:r>
              <a:rPr lang="en-US" sz="2200" u="sng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  <a:hlinkClick r:id="rId5" tooltip="https://www.insee.fr/fr/statistiques/5393826"/>
              </a:rPr>
              <a:t>https://www.insee.fr/fr/statistiques/5393826</a:t>
            </a:r>
            <a:r>
              <a:rPr lang="en-US" sz="22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.</a:t>
            </a:r>
          </a:p>
          <a:p>
            <a:pPr algn="l" marL="474983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———. 2022. Migrations résidentielles en 2019 : lieu de résidence actuelle - lieu de résidence antérieure. </a:t>
            </a:r>
            <a:r>
              <a:rPr lang="en-US" sz="2200" u="sng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  <a:hlinkClick r:id="rId6" tooltip="https://www.insee.fr/fr/statistiques/6454108"/>
              </a:rPr>
              <a:t>https://www.insee.fr/fr/statistiques/6454108</a:t>
            </a:r>
            <a:r>
              <a:rPr lang="en-US" sz="22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.</a:t>
            </a:r>
          </a:p>
          <a:p>
            <a:pPr algn="l" marL="474983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———. 2023. Migrations résidentielles en 2020 : lieu de résidence actuelle - lieu de résidence antérieure. </a:t>
            </a:r>
            <a:r>
              <a:rPr lang="en-US" sz="2200" u="sng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  <a:hlinkClick r:id="rId7" tooltip="https://www.insee.fr/fr/statistiques/7630358"/>
              </a:rPr>
              <a:t>https://www.insee.fr/fr/statistiques/7630358</a:t>
            </a:r>
            <a:r>
              <a:rPr lang="en-US" sz="22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.</a:t>
            </a:r>
          </a:p>
          <a:p>
            <a:pPr algn="l" marL="474983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———. 2024. Migrations résidentielles en 2021 : lieu de résidence actuelle - lieu de résidence antérieure. </a:t>
            </a:r>
            <a:r>
              <a:rPr lang="en-US" sz="2200" u="sng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  <a:hlinkClick r:id="rId8" tooltip="https://www.insee.fr/fr/statistiques/8201889"/>
              </a:rPr>
              <a:t>https://www.insee.fr/fr/statistiques/8201889</a:t>
            </a:r>
            <a:r>
              <a:rPr lang="en-US" sz="22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.</a:t>
            </a:r>
          </a:p>
          <a:p>
            <a:pPr algn="l" marL="474983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———. 2024. Populations de référence 2022. </a:t>
            </a:r>
            <a:r>
              <a:rPr lang="en-US" sz="2200" u="sng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  <a:hlinkClick r:id="rId9" tooltip="https://www.insee.fr/fr/statistiques/8290591?sommaire=8290669"/>
              </a:rPr>
              <a:t>https://www.insee.fr/fr/statistiques/8290591?sommaire=8290669</a:t>
            </a:r>
            <a:r>
              <a:rPr lang="en-US" sz="22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.</a:t>
            </a:r>
          </a:p>
          <a:p>
            <a:pPr algn="l" marL="474983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———. 2025. Migrations résidentielles en 2022 : lieu de résidence actuelle - lieu de résidence antérieure . </a:t>
            </a:r>
            <a:r>
              <a:rPr lang="en-US" sz="2200" u="sng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  <a:hlinkClick r:id="rId10" tooltip="https://www.insee.fr/fr/statistiques/8582988"/>
              </a:rPr>
              <a:t>https://www.insee.fr/fr/statistiques/8582988</a:t>
            </a:r>
            <a:r>
              <a:rPr lang="en-US" sz="22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.</a:t>
            </a:r>
          </a:p>
          <a:p>
            <a:pPr algn="l" marL="474983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Marie-Laure Brouille, Julie Le Gallo, et Alexandra Verlhiac. 2022. "Migrations résidentielles et crise de la Covid-19 : vers un exode urbain en France ?." Économie et Statistique 536: page 59-76. </a:t>
            </a:r>
            <a:r>
              <a:rPr lang="en-US" sz="2200" u="sng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  <a:hlinkClick r:id="rId11" tooltip="https://www.persee.fr/doc/estat_0336-1454_2022_num_536_1_11053"/>
              </a:rPr>
              <a:t>https://www.persee.fr/doc/estat_0336-1454_2022_num_536_1_11053</a:t>
            </a:r>
            <a:r>
              <a:rPr lang="en-US" sz="22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.</a:t>
            </a:r>
          </a:p>
          <a:p>
            <a:pPr algn="l">
              <a:lnSpc>
                <a:spcPts val="3080"/>
              </a:lnSpc>
            </a:pPr>
          </a:p>
          <a:p>
            <a:pPr algn="l">
              <a:lnSpc>
                <a:spcPts val="30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4962219" y="9516897"/>
            <a:ext cx="533827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773922"/>
            <a:ext cx="16230600" cy="232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Milet, Hélène, Nic</a:t>
            </a: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olas Maisetti, and Eva Simon. 2022. Exode urbain : un mythe, des réalités. Présentation des résultats. Gip L'Europe des Projets Architecturaux et Urbains. </a:t>
            </a:r>
            <a:r>
              <a:rPr lang="en-US" sz="2200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2" tooltip="https://popsu.archi.fr/programme/exode-urbain"/>
              </a:rPr>
              <a:t>https://popsu.archi.fr/programme/exode-urbain</a:t>
            </a:r>
          </a:p>
          <a:p>
            <a:pPr algn="l">
              <a:lnSpc>
                <a:spcPts val="3080"/>
              </a:lnSpc>
            </a:pP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Arjun Ramani et Nicholas Bloom. 2021. « L’effet Donut du COVID-19 sur les villes. » NBER Working Paper Series, no. 28876. </a:t>
            </a:r>
            <a:r>
              <a:rPr lang="en-US" sz="2200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3" tooltip="https://www.nber.org/system/files/working_papers/w28876/w28876.pdf"/>
              </a:rPr>
              <a:t>https://www.nber.org/system/files/working_papers/w28876/w28876.pdf</a:t>
            </a: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308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4962219" y="9516897"/>
            <a:ext cx="533827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DAHG9GSAyI4</dc:identifier>
  <dcterms:modified xsi:type="dcterms:W3CDTF">2011-08-01T06:04:30Z</dcterms:modified>
  <cp:revision>1</cp:revision>
  <dc:title>Présentation Eco Urbaine </dc:title>
</cp:coreProperties>
</file>